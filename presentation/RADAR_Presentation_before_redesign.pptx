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53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8553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9728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RADAR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Vehicle Analysis System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Egyptian License Plate Detection  ·  OCR  ·  Seatbelt &amp; Mobile Detection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3520440"/>
            <a:ext cx="3657600" cy="36576"/>
          </a:xfrm>
          <a:prstGeom prst="rect">
            <a:avLst/>
          </a:prstGeom>
          <a:solidFill>
            <a:srgbClr val="E8553D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457200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5720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YOLOv11m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457200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45720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YOLO26m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7680" y="457200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45720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YOLO26s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89320" y="457200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45720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680960" y="457200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0" y="45720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LapSRN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372600" y="457200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72600" y="45720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Real-ESRGAN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— Real-Time Vehicle Analysis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53035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554480"/>
            <a:ext cx="54864" cy="1737360"/>
          </a:xfrm>
          <a:prstGeom prst="rect">
            <a:avLst/>
          </a:prstGeom>
          <a:solidFill>
            <a:srgbClr val="E8553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554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🚗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63040" y="1600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Enforcement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210312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monitoring of vehicles, license plates, and driver behavior is slow, error-prone, and requires significant human resources.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371600"/>
            <a:ext cx="53035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554480"/>
            <a:ext cx="54864" cy="1737360"/>
          </a:xfrm>
          <a:prstGeom prst="rect">
            <a:avLst/>
          </a:prstGeom>
          <a:solidFill>
            <a:srgbClr val="E8553D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1554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132320" y="1600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Plate OCR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83680" y="210312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Egyptian plates have unique Arabic characters and dual-language format (Arabic + numbers). Traditional OCR struggles with this complexity.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840480"/>
            <a:ext cx="53035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023360"/>
            <a:ext cx="54864" cy="1737360"/>
          </a:xfrm>
          <a:prstGeom prst="rect">
            <a:avLst/>
          </a:prstGeom>
          <a:solidFill>
            <a:srgbClr val="E8553D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0233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463040" y="4069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Safety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4400" y="457200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Seatbelt violations and mobile phone usage while driving are leading causes of accidents. Manual detection is inconsistent.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9360" y="3840480"/>
            <a:ext cx="53035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09360" y="4023360"/>
            <a:ext cx="54864" cy="1737360"/>
          </a:xfrm>
          <a:prstGeom prst="rect">
            <a:avLst/>
          </a:prstGeom>
          <a:solidFill>
            <a:srgbClr val="E8553D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40233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132320" y="4069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Processing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583680" y="457200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systems need fast, automated analysis that can process live feeds and images efficiently.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53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8553D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92608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92608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RADAR processes images end-to-end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926080" y="2834640"/>
            <a:ext cx="2286000" cy="36576"/>
          </a:xfrm>
          <a:prstGeom prst="rect">
            <a:avLst/>
          </a:prstGeom>
          <a:solidFill>
            <a:srgbClr val="E8553D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— Real-Time Vehicle Analysis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End-to-End Pipeline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77240" y="1371600"/>
            <a:ext cx="1005840" cy="1005840"/>
          </a:xfrm>
          <a:prstGeom prst="ellipse">
            <a:avLst/>
          </a:prstGeom>
          <a:solidFill>
            <a:srgbClr val="2E86AB"/>
          </a:solidFill>
          <a:ln/>
          <a:effectLst>
            <a:outerShdw sx="100000" sy="100000" kx="0" ky="0" algn="bl" rotWithShape="0" blurRad="50800" dist="12700" dir="162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46304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2560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Input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9260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photo or capture from video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57400" y="2011680"/>
            <a:ext cx="320040" cy="320040"/>
          </a:xfrm>
          <a:prstGeom prst="rightArrow">
            <a:avLst/>
          </a:prstGeom>
          <a:solidFill>
            <a:srgbClr val="E8ECF1"/>
          </a:solidFill>
          <a:ln/>
        </p:spPr>
      </p:sp>
      <p:sp>
        <p:nvSpPr>
          <p:cNvPr id="12" name="Shape 10"/>
          <p:cNvSpPr/>
          <p:nvPr/>
        </p:nvSpPr>
        <p:spPr>
          <a:xfrm>
            <a:off x="2697480" y="1371600"/>
            <a:ext cx="1005840" cy="10058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50800" dist="12700" dir="162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97480" y="146304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286000" y="2560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Detection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86000" y="29260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YOLO26s detects vehicles (car, bus, truck)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977640" y="2011680"/>
            <a:ext cx="320040" cy="320040"/>
          </a:xfrm>
          <a:prstGeom prst="rightArrow">
            <a:avLst/>
          </a:prstGeom>
          <a:solidFill>
            <a:srgbClr val="E8ECF1"/>
          </a:solidFill>
          <a:ln/>
        </p:spPr>
      </p:sp>
      <p:sp>
        <p:nvSpPr>
          <p:cNvPr id="17" name="Shape 15"/>
          <p:cNvSpPr/>
          <p:nvPr/>
        </p:nvSpPr>
        <p:spPr>
          <a:xfrm>
            <a:off x="4617720" y="1371600"/>
            <a:ext cx="1005840" cy="1005840"/>
          </a:xfrm>
          <a:prstGeom prst="ellipse">
            <a:avLst/>
          </a:prstGeom>
          <a:solidFill>
            <a:srgbClr val="6C63FF"/>
          </a:solidFill>
          <a:ln/>
          <a:effectLst>
            <a:outerShdw sx="100000" sy="100000" kx="0" ky="0" algn="bl" rotWithShape="0" blurRad="50800" dist="12700" dir="162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17720" y="146304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206240" y="2560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 Analysis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06240" y="29260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Seatbelt &amp; mobile phone detection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897880" y="2011680"/>
            <a:ext cx="320040" cy="320040"/>
          </a:xfrm>
          <a:prstGeom prst="rightArrow">
            <a:avLst/>
          </a:prstGeom>
          <a:solidFill>
            <a:srgbClr val="E8ECF1"/>
          </a:solidFill>
          <a:ln/>
        </p:spPr>
      </p:sp>
      <p:sp>
        <p:nvSpPr>
          <p:cNvPr id="22" name="Shape 20"/>
          <p:cNvSpPr/>
          <p:nvPr/>
        </p:nvSpPr>
        <p:spPr>
          <a:xfrm>
            <a:off x="6537960" y="1371600"/>
            <a:ext cx="1005840" cy="1005840"/>
          </a:xfrm>
          <a:prstGeom prst="ellipse">
            <a:avLst/>
          </a:prstGeom>
          <a:solidFill>
            <a:srgbClr val="E8553D"/>
          </a:solidFill>
          <a:ln/>
          <a:effectLst>
            <a:outerShdw sx="100000" sy="100000" kx="0" ky="0" algn="bl" rotWithShape="0" blurRad="50800" dist="12700" dir="162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37960" y="146304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126480" y="2560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Detection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26480" y="29260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YOLOv11m locates license plates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818120" y="2011680"/>
            <a:ext cx="320040" cy="320040"/>
          </a:xfrm>
          <a:prstGeom prst="rightArrow">
            <a:avLst/>
          </a:prstGeom>
          <a:solidFill>
            <a:srgbClr val="E8ECF1"/>
          </a:solidFill>
          <a:ln/>
        </p:spPr>
      </p:sp>
      <p:sp>
        <p:nvSpPr>
          <p:cNvPr id="27" name="Shape 25"/>
          <p:cNvSpPr/>
          <p:nvPr/>
        </p:nvSpPr>
        <p:spPr>
          <a:xfrm>
            <a:off x="8458200" y="1371600"/>
            <a:ext cx="1005840" cy="1005840"/>
          </a:xfrm>
          <a:prstGeom prst="ellipse">
            <a:avLst/>
          </a:prstGeom>
          <a:solidFill>
            <a:srgbClr val="F0A500"/>
          </a:solidFill>
          <a:ln/>
          <a:effectLst>
            <a:outerShdw sx="100000" sy="100000" kx="0" ky="0" algn="bl" rotWithShape="0" blurRad="50800" dist="12700" dir="16200000">
              <a:srgbClr val="00000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458200" y="146304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8046720" y="2560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Resolution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046720" y="29260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LapSRN &amp; Real-ESRGAN enhance crops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738360" y="2011680"/>
            <a:ext cx="320040" cy="320040"/>
          </a:xfrm>
          <a:prstGeom prst="rightArrow">
            <a:avLst/>
          </a:prstGeom>
          <a:solidFill>
            <a:srgbClr val="E8ECF1"/>
          </a:solidFill>
          <a:ln/>
        </p:spPr>
      </p:sp>
      <p:sp>
        <p:nvSpPr>
          <p:cNvPr id="32" name="Shape 30"/>
          <p:cNvSpPr/>
          <p:nvPr/>
        </p:nvSpPr>
        <p:spPr>
          <a:xfrm>
            <a:off x="10378440" y="1371600"/>
            <a:ext cx="1005840" cy="1005840"/>
          </a:xfrm>
          <a:prstGeom prst="ellipse">
            <a:avLst/>
          </a:prstGeom>
          <a:solidFill>
            <a:srgbClr val="28A745"/>
          </a:solidFill>
          <a:ln/>
          <a:effectLst>
            <a:outerShdw sx="100000" sy="100000" kx="0" ky="0" algn="bl" rotWithShape="0" blurRad="50800" dist="12700" dir="16200000">
              <a:srgbClr val="000000">
                <a:alpha val="2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0378440" y="146304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9966960" y="2560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966960" y="29260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models read characters (Arabic + numbers)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0080" y="4114800"/>
            <a:ext cx="108813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914400" y="4297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Roboflow-Style Live Filtering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14400" y="47548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run ONCE at minimum confidence (0.01) and cache results. Sidebar sliders filter cached results client-side — no model re-run on slider change. This gives real-time interactive filtering without GPU overhead.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53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8553D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92608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Models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92608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specialized models working together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926080" y="2834640"/>
            <a:ext cx="2286000" cy="36576"/>
          </a:xfrm>
          <a:prstGeom prst="rect">
            <a:avLst/>
          </a:prstGeom>
          <a:solidFill>
            <a:srgbClr val="E8553D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— Real-Time Vehicle Analysis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Arsenal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28016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280160"/>
            <a:ext cx="3474720" cy="54864"/>
          </a:xfrm>
          <a:prstGeom prst="rect">
            <a:avLst/>
          </a:prstGeom>
          <a:solidFill>
            <a:srgbClr val="E8553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508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Detector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196596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E8553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9659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YOLOv11m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0" y="196596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E8ECF1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19659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classes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24688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license plates in images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89120" y="128016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89120" y="1280160"/>
            <a:ext cx="347472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508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V1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663440" y="196596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2E86AB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19659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YOLOv11m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196596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E8ECF1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19659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classes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63440" y="24688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recognition (baseline)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138160" y="128016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38160" y="1280160"/>
            <a:ext cx="347472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0" y="1508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V2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412480" y="196596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8412480" y="19659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YOLO26m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058400" y="196596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E8ECF1"/>
          </a:solidFill>
          <a:ln/>
        </p:spPr>
      </p:sp>
      <p:sp>
        <p:nvSpPr>
          <p:cNvPr id="29" name="Text 27"/>
          <p:cNvSpPr/>
          <p:nvPr/>
        </p:nvSpPr>
        <p:spPr>
          <a:xfrm>
            <a:off x="10058400" y="19659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classes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12480" y="24688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character recognition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" y="393192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0080" y="3931920"/>
            <a:ext cx="3474720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" y="4160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V2 Weighted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914400" y="461772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6C63FF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" y="4617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YOLO26m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560320" y="461772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E8ECF1"/>
          </a:solidFill>
          <a:ln/>
        </p:spPr>
      </p:sp>
      <p:sp>
        <p:nvSpPr>
          <p:cNvPr id="37" name="Text 35"/>
          <p:cNvSpPr/>
          <p:nvPr/>
        </p:nvSpPr>
        <p:spPr>
          <a:xfrm>
            <a:off x="2560320" y="4617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classes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14400" y="51206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loss for better precision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389120" y="393192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389120" y="3931920"/>
            <a:ext cx="3474720" cy="54864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41" name="Text 39"/>
          <p:cNvSpPr/>
          <p:nvPr/>
        </p:nvSpPr>
        <p:spPr>
          <a:xfrm>
            <a:off x="4663440" y="4160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Detector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4663440" y="461772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28A745"/>
          </a:solidFill>
          <a:ln/>
        </p:spPr>
      </p:sp>
      <p:sp>
        <p:nvSpPr>
          <p:cNvPr id="43" name="Text 41"/>
          <p:cNvSpPr/>
          <p:nvPr/>
        </p:nvSpPr>
        <p:spPr>
          <a:xfrm>
            <a:off x="4663440" y="4617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YOLO26s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309360" y="461772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E8ECF1"/>
          </a:solidFill>
          <a:ln/>
        </p:spPr>
      </p:sp>
      <p:sp>
        <p:nvSpPr>
          <p:cNvPr id="45" name="Text 43"/>
          <p:cNvSpPr/>
          <p:nvPr/>
        </p:nvSpPr>
        <p:spPr>
          <a:xfrm>
            <a:off x="6309360" y="4617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classes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663440" y="51206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detection (car/bus/truck)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8138160" y="393192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138160" y="3931920"/>
            <a:ext cx="3474720" cy="5486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9" name="Text 47"/>
          <p:cNvSpPr/>
          <p:nvPr/>
        </p:nvSpPr>
        <p:spPr>
          <a:xfrm>
            <a:off x="8412480" y="4160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Seatbelt+Mobile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8412480" y="461772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F0A500"/>
          </a:solidFill>
          <a:ln/>
        </p:spPr>
      </p:sp>
      <p:sp>
        <p:nvSpPr>
          <p:cNvPr id="51" name="Text 49"/>
          <p:cNvSpPr/>
          <p:nvPr/>
        </p:nvSpPr>
        <p:spPr>
          <a:xfrm>
            <a:off x="8412480" y="4617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YOLOv11m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10058400" y="461772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E8ECF1"/>
          </a:solidFill>
          <a:ln/>
        </p:spPr>
      </p:sp>
      <p:sp>
        <p:nvSpPr>
          <p:cNvPr id="53" name="Text 51"/>
          <p:cNvSpPr/>
          <p:nvPr/>
        </p:nvSpPr>
        <p:spPr>
          <a:xfrm>
            <a:off x="10058400" y="4617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classes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412480" y="51206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safety violation detection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53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8553D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92608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Plate Detection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92608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YOLOv11m — Finding license plates in the wild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926080" y="2834640"/>
            <a:ext cx="2286000" cy="36576"/>
          </a:xfrm>
          <a:prstGeom prst="rect">
            <a:avLst/>
          </a:prstGeom>
          <a:solidFill>
            <a:srgbClr val="E8553D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— Real-Time Vehicle Analysis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License Plate Detection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YOLOv11m  |  Fine-tuned on Egyptian car plates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5029200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1828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17520" y="1828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YOLOv11m (medium)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05840" y="2240280"/>
            <a:ext cx="4297680" cy="9144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468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Size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17520" y="2468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 × 640 pixels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05840" y="2880360"/>
            <a:ext cx="4297680" cy="9144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108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Target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17520" y="3108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Egyptian license plates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05840" y="3520440"/>
            <a:ext cx="4297680" cy="9144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749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17520" y="3749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05840" y="4160520"/>
            <a:ext cx="4297680" cy="9144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3891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17520" y="4389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 + confidence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05840" y="4800600"/>
            <a:ext cx="4297680" cy="9144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5029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017520" y="5029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widest-first for best OCR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26480" y="1554480"/>
            <a:ext cx="5394960" cy="4389120"/>
          </a:xfrm>
          <a:prstGeom prst="roundRect">
            <a:avLst>
              <a:gd name="adj" fmla="val 2083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Plate-First Detection?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583680" y="24688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Detects plates in the full image before cropping — avoids missing small plates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83680" y="32004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Plates sorted by width (widest first) — best quality crop for OCR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83680" y="39319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Runs at cache-min confidence (0.01) then filtered client-side at 0.25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0" y="46634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Single model handles all Egyptian plate styles (white, blue, old format)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53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8553D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92608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OCR Models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92608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characters from Egyptian license plates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926080" y="2834640"/>
            <a:ext cx="2286000" cy="36576"/>
          </a:xfrm>
          <a:prstGeom prst="rect">
            <a:avLst/>
          </a:prstGeom>
          <a:solidFill>
            <a:srgbClr val="E8553D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— Real-Time Vehicle Analysis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OCR Challenge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Egyptian plates have unique challenges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53035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🔤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54480" y="1783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Language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22860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Plates contain both Arabic letters and Latin/Arabic numerals — OCR must handle bidirectional text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554480"/>
            <a:ext cx="53035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223760" y="1783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Character Classes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83680" y="22860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digits + 28 Arabic letters with visually similar characters (e.g., ع vs غ, ص vs ض)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53035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554480" y="4069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Resolution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14400" y="45720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Cropped plates from far vehicles are blurry — super-resolution enhancement is critical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3840480"/>
            <a:ext cx="53035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🌤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223760" y="4069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Varied Conditions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583680" y="45720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lighting, angles, plate styles (white, blue), and degradation levels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— Real-Time Vehicle Analysis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OCR V2 — Training Results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YOLO26m  |  80 epochs  |  batch=16  |  AdamW  |  characters_final dataset (9,324 images)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46304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6002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55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99.2%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mAP@50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17520" y="146304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017520" y="16002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86A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77.4%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01752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mAP@50-95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94960" y="146304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94960" y="16002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98.9%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539496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0" y="146304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0" y="16002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8A7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99.0%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777240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149840" y="146304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149840" y="16002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A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99.0%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1014984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pic>
        <p:nvPicPr>
          <p:cNvPr id="23" name="Image 0" descr="/home/mesbah/Desktop/Projects/RADAR/presentation/charts/ocr_v2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108960"/>
            <a:ext cx="5486400" cy="347472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6400800" y="3108960"/>
            <a:ext cx="53035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766560" y="3291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766560" y="3840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Architecture: YOLO26m (medium)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766560" y="41696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Dataset: characters_final — 9,324 images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766560" y="44988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Image Size: 640 × 640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766560" y="4828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Optimizer: AdamW, lr=0.01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766560" y="51572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Augmentation: RandAugment + MixUp(0.1)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766560" y="5486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Warmup: 3 epochs (removed from charts)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766560" y="581558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Best epoch: 78 / 80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766560" y="61447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Platform: Kaggle T4 GPU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— Real-Time Vehicle Analysis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OCR V2 — Training Curves</a:t>
            </a:r>
            <a:endParaRPr lang="en-US" sz="3000" dirty="0"/>
          </a:p>
        </p:txBody>
      </p:sp>
      <p:pic>
        <p:nvPicPr>
          <p:cNvPr id="7" name="Image 0" descr="/home/mesbah/Desktop/Projects/RADAR/presentation/charts/ocr_v2_l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486400" cy="2743200"/>
          </a:xfrm>
          <a:prstGeom prst="rect">
            <a:avLst/>
          </a:prstGeom>
        </p:spPr>
      </p:pic>
      <p:pic>
        <p:nvPicPr>
          <p:cNvPr id="8" name="Image 1" descr="/home/mesbah/Desktop/Projects/RADAR/presentation/charts/ocr_v2_precision_rec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486400" cy="2743200"/>
          </a:xfrm>
          <a:prstGeom prst="rect">
            <a:avLst/>
          </a:prstGeom>
        </p:spPr>
      </p:pic>
      <p:pic>
        <p:nvPicPr>
          <p:cNvPr id="9" name="Image 2" descr="/home/mesbah/Desktop/Projects/RADAR/presentation/charts/ocr_v2_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4114800"/>
            <a:ext cx="640080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— Real-Time Vehicle Analysis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OCR Model Comparison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OCR models run side-by-side for best accuracy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3566160" cy="41148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554480"/>
            <a:ext cx="3566160" cy="54864"/>
          </a:xfrm>
          <a:prstGeom prst="rect">
            <a:avLst/>
          </a:prstGeom>
          <a:solidFill>
            <a:srgbClr val="8B95A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783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V1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14400" y="228600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8B95A5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286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YOLOv11m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27432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character model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3566160"/>
            <a:ext cx="3017520" cy="9144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7490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4023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Egyptian plates dataset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4572000"/>
            <a:ext cx="3017520" cy="9144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754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runs on 3 versions: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50749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Original crop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533095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LapSRN 2× enhanced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5586984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Real-ESRGAN enhanced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34840" y="1554480"/>
            <a:ext cx="3566160" cy="41148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434840" y="1554480"/>
            <a:ext cx="3566160" cy="54864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1783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V2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709160" y="228600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28A745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2286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YOLO26m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09160" y="27432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with characters_final dataset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09160" y="3566160"/>
            <a:ext cx="3017520" cy="9144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29" name="Text 27"/>
          <p:cNvSpPr/>
          <p:nvPr/>
        </p:nvSpPr>
        <p:spPr>
          <a:xfrm>
            <a:off x="4709160" y="37490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09160" y="4023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9,324 images, 100 epochs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09160" y="4572000"/>
            <a:ext cx="3017520" cy="9144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32" name="Text 30"/>
          <p:cNvSpPr/>
          <p:nvPr/>
        </p:nvSpPr>
        <p:spPr>
          <a:xfrm>
            <a:off x="4709160" y="4754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runs on 3 versions: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09160" y="50749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Original crop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09160" y="533095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LapSRN 2× enhanced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09160" y="5586984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Real-ESRGAN enhanced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229600" y="1554480"/>
            <a:ext cx="3566160" cy="41148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229600" y="1554480"/>
            <a:ext cx="356616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8" name="Text 36"/>
          <p:cNvSpPr/>
          <p:nvPr/>
        </p:nvSpPr>
        <p:spPr>
          <a:xfrm>
            <a:off x="8503920" y="1783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V2 Weighted-3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8503920" y="228600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2E86AB"/>
          </a:solidFill>
          <a:ln/>
        </p:spPr>
      </p:sp>
      <p:sp>
        <p:nvSpPr>
          <p:cNvPr id="40" name="Text 38"/>
          <p:cNvSpPr/>
          <p:nvPr/>
        </p:nvSpPr>
        <p:spPr>
          <a:xfrm>
            <a:off x="8503920" y="2286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YOLO26m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503920" y="27432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BCE loss for class balance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503920" y="3566160"/>
            <a:ext cx="3017520" cy="9144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43" name="Text 41"/>
          <p:cNvSpPr/>
          <p:nvPr/>
        </p:nvSpPr>
        <p:spPr>
          <a:xfrm>
            <a:off x="8503920" y="37490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503920" y="4023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data, weighted training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503920" y="4572000"/>
            <a:ext cx="3017520" cy="9144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46" name="Text 44"/>
          <p:cNvSpPr/>
          <p:nvPr/>
        </p:nvSpPr>
        <p:spPr>
          <a:xfrm>
            <a:off x="8503920" y="4754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runs on 3 versions: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503920" y="50749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Original crop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503920" y="533095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LapSRN 2× enhanced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503920" y="5586984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Real-ESRGAN enhanced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40080" y="5852160"/>
            <a:ext cx="10881360" cy="457200"/>
          </a:xfrm>
          <a:prstGeom prst="roundRect">
            <a:avLst>
              <a:gd name="adj" fmla="val 10000"/>
            </a:avLst>
          </a:prstGeom>
          <a:solidFill>
            <a:srgbClr val="D1ECF1"/>
          </a:solidFill>
          <a:ln/>
        </p:spPr>
      </p:sp>
      <p:sp>
        <p:nvSpPr>
          <p:cNvPr id="51" name="Text 49"/>
          <p:cNvSpPr/>
          <p:nvPr/>
        </p:nvSpPr>
        <p:spPr>
          <a:xfrm>
            <a:off x="914400" y="5852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Total: 3 models × 3 enhancements = 9 OCR results per plate for maximum accuracy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53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8553D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92608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Super Resolution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92608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image enhancement for better OCR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926080" y="2834640"/>
            <a:ext cx="2286000" cy="36576"/>
          </a:xfrm>
          <a:prstGeom prst="rect">
            <a:avLst/>
          </a:prstGeom>
          <a:solidFill>
            <a:srgbClr val="E8553D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— Real-Time Vehicle Analysis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Super-Resolution Pipeline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22960" y="1554480"/>
            <a:ext cx="640080" cy="640080"/>
          </a:xfrm>
          <a:prstGeom prst="ellipse">
            <a:avLst/>
          </a:prstGeom>
          <a:solidFill>
            <a:srgbClr val="8B95A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115568" y="2240280"/>
            <a:ext cx="36576" cy="822960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0" y="1508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Crop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28800" y="1920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plate crop from plate detector — may be blurry or pixelated, especially for distant vehicles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28800" y="2468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— no processing applied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3246120"/>
            <a:ext cx="640080" cy="64008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246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115568" y="3931920"/>
            <a:ext cx="36576" cy="822960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0" y="3200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LapSRN 2×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28800" y="3611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Laplacian Pyramid Super-Resolution Network — upscales 2× using deep learning. Fast inference, good for mild blur.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828800" y="4160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LapSRN_x2.pb — can crash on certain shapes, wrapped in try/except fallback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" y="4937760"/>
            <a:ext cx="640080" cy="640080"/>
          </a:xfrm>
          <a:prstGeom prst="ellipse">
            <a:avLst/>
          </a:prstGeom>
          <a:solidFill>
            <a:srgbClr val="E8553D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937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828800" y="4892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Real-ESRGAN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828800" y="5303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Super-Resolution GAN — handles complex degradations (blur, noise, compression artifacts). Higher quality but slower.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828800" y="5852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Excels at recovering text details from degraded plate images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53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8553D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92608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Seatbelt &amp; Mobile Detection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92608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safety violation detection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926080" y="2834640"/>
            <a:ext cx="2286000" cy="36576"/>
          </a:xfrm>
          <a:prstGeom prst="rect">
            <a:avLst/>
          </a:prstGeom>
          <a:solidFill>
            <a:srgbClr val="E8553D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— Real-Time Vehicle Analysis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Seatbelt &amp; Mobile Detection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YOLOv11m  |  78 epochs  |  batch=32  |  6,424 images  |  5 classes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Classes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201168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E8553D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person-noseatbelt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Driver/passenger without seatbelt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251460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28A745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2514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person-seatbelt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2514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Driver/passenger wearing seatbelt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301752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2E86AB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3017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seatbelt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3017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Seatbelt strap visible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352044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8B95A5"/>
          </a:solidFill>
          <a:ln/>
        </p:spPr>
      </p:sp>
      <p:sp>
        <p:nvSpPr>
          <p:cNvPr id="19" name="Text 17"/>
          <p:cNvSpPr/>
          <p:nvPr/>
        </p:nvSpPr>
        <p:spPr>
          <a:xfrm>
            <a:off x="1280160" y="3520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windshield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0" y="3520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Windshield detection (context)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402336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0A500"/>
          </a:solidFill>
          <a:ln/>
        </p:spPr>
      </p:sp>
      <p:sp>
        <p:nvSpPr>
          <p:cNvPr id="22" name="Text 20"/>
          <p:cNvSpPr/>
          <p:nvPr/>
        </p:nvSpPr>
        <p:spPr>
          <a:xfrm>
            <a:off x="1280160" y="4023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mobile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0" y="4023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phone in use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1463040"/>
            <a:ext cx="5303520" cy="2560320"/>
          </a:xfrm>
          <a:prstGeom prst="roundRect">
            <a:avLst>
              <a:gd name="adj" fmla="val 3571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Construction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766560" y="2286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Merged from 3 sources: v3 base + v2 mobile + v5 unique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66560" y="26334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6,424 images at 640 × 640 resolution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66560" y="298094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484 mobile phone labels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66560" y="33284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Train/Valid/Test split with balanced distribution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66560" y="36758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Built from v3 base (NOT v4 which was 320×320)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" y="457200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0080" y="47091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55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90.0%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640080" y="5394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mAP@50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017520" y="457200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017520" y="47091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86A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54.3%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3017520" y="5394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mAP@50-95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394960" y="457200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394960" y="47091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89.8%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5394960" y="5394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772400" y="457200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772400" y="47091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8A7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86.6%</a:t>
            </a:r>
            <a:endParaRPr lang="en-US" sz="3200" dirty="0"/>
          </a:p>
        </p:txBody>
      </p:sp>
      <p:sp>
        <p:nvSpPr>
          <p:cNvPr id="42" name="Text 40"/>
          <p:cNvSpPr/>
          <p:nvPr/>
        </p:nvSpPr>
        <p:spPr>
          <a:xfrm>
            <a:off x="7772400" y="5394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0149840" y="457200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10149840" y="47091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A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87.3%</a:t>
            </a:r>
            <a:endParaRPr lang="en-US" sz="3200" dirty="0"/>
          </a:p>
        </p:txBody>
      </p:sp>
      <p:sp>
        <p:nvSpPr>
          <p:cNvPr id="45" name="Text 43"/>
          <p:cNvSpPr/>
          <p:nvPr/>
        </p:nvSpPr>
        <p:spPr>
          <a:xfrm>
            <a:off x="10149840" y="5394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— Real-Time Vehicle Analysis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Seatbelt Model — Training Curves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exclude first 3 warmup epochs  |  Y-axis scaled for visibility</a:t>
            </a:r>
            <a:endParaRPr lang="en-US" sz="1200" dirty="0"/>
          </a:p>
        </p:txBody>
      </p:sp>
      <p:pic>
        <p:nvPicPr>
          <p:cNvPr id="8" name="Image 0" descr="/home/mesbah/Desktop/Projects/RADAR/presentation/charts/seatbelt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112471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— Real-Time Vehicle Analysis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Seatbelt Model — Detailed Metrics</a:t>
            </a:r>
            <a:endParaRPr lang="en-US" sz="3000" dirty="0"/>
          </a:p>
        </p:txBody>
      </p:sp>
      <p:pic>
        <p:nvPicPr>
          <p:cNvPr id="7" name="Image 0" descr="/home/mesbah/Desktop/Projects/RADAR/presentation/charts/seatbelt_l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0"/>
            <a:ext cx="5760720" cy="2743200"/>
          </a:xfrm>
          <a:prstGeom prst="rect">
            <a:avLst/>
          </a:prstGeom>
        </p:spPr>
      </p:pic>
      <p:pic>
        <p:nvPicPr>
          <p:cNvPr id="8" name="Image 1" descr="/home/mesbah/Desktop/Projects/RADAR/presentation/charts/seatbelt_precision_rec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5760720" cy="2743200"/>
          </a:xfrm>
          <a:prstGeom prst="rect">
            <a:avLst/>
          </a:prstGeom>
        </p:spPr>
      </p:pic>
      <p:pic>
        <p:nvPicPr>
          <p:cNvPr id="9" name="Image 2" descr="/home/mesbah/Desktop/Projects/RADAR/presentation/charts/seatbelt_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4023360"/>
            <a:ext cx="640080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53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8553D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92608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 Detection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92608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YOLO26s — Vehicle detection &amp; tracking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926080" y="2834640"/>
            <a:ext cx="2286000" cy="36576"/>
          </a:xfrm>
          <a:prstGeom prst="rect">
            <a:avLst/>
          </a:prstGeom>
          <a:solidFill>
            <a:srgbClr val="E8553D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— Real-Time Vehicle Analysis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Vehicle Detection &amp; Tracking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530352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YOLO26s Car Detector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2103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17520" y="2103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YOLO26s (small — fast)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05840" y="2468880"/>
            <a:ext cx="4480560" cy="9144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697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Size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17520" y="2697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 × 640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05840" y="3063240"/>
            <a:ext cx="4480560" cy="9144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291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Classes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17520" y="3291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(2), bus (5), truck (7)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05840" y="3657600"/>
            <a:ext cx="4480560" cy="9144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886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17520" y="3886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 for video frame tracking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05840" y="4251960"/>
            <a:ext cx="4480560" cy="9144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480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17520" y="4480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 threshold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05840" y="4846320"/>
            <a:ext cx="4480560" cy="9144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5074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017520" y="5074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vehicles before interior/plate analysis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09360" y="1371600"/>
            <a:ext cx="5212080" cy="4572000"/>
          </a:xfrm>
          <a:prstGeom prst="roundRect">
            <a:avLst>
              <a:gd name="adj" fmla="val 2000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Pipeline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675120" y="2103120"/>
            <a:ext cx="320040" cy="320040"/>
          </a:xfrm>
          <a:prstGeom prst="ellipse">
            <a:avLst/>
          </a:prstGeom>
          <a:solidFill>
            <a:srgbClr val="E8553D"/>
          </a:solidFill>
          <a:ln/>
        </p:spPr>
      </p:sp>
      <p:sp>
        <p:nvSpPr>
          <p:cNvPr id="29" name="Text 27"/>
          <p:cNvSpPr/>
          <p:nvPr/>
        </p:nvSpPr>
        <p:spPr>
          <a:xfrm>
            <a:off x="6675120" y="2103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23760" y="2103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all video frames for cars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675120" y="2697480"/>
            <a:ext cx="320040" cy="320040"/>
          </a:xfrm>
          <a:prstGeom prst="ellipse">
            <a:avLst/>
          </a:prstGeom>
          <a:solidFill>
            <a:srgbClr val="E8553D"/>
          </a:solidFill>
          <a:ln/>
        </p:spPr>
      </p:sp>
      <p:sp>
        <p:nvSpPr>
          <p:cNvPr id="32" name="Text 30"/>
          <p:cNvSpPr/>
          <p:nvPr/>
        </p:nvSpPr>
        <p:spPr>
          <a:xfrm>
            <a:off x="6675120" y="2697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23760" y="2697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 assigns track IDs per pass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0" y="3291840"/>
            <a:ext cx="320040" cy="320040"/>
          </a:xfrm>
          <a:prstGeom prst="ellipse">
            <a:avLst/>
          </a:prstGeom>
          <a:solidFill>
            <a:srgbClr val="E8553D"/>
          </a:solidFill>
          <a:ln/>
        </p:spPr>
      </p:sp>
      <p:sp>
        <p:nvSpPr>
          <p:cNvPr id="35" name="Text 33"/>
          <p:cNvSpPr/>
          <p:nvPr/>
        </p:nvSpPr>
        <p:spPr>
          <a:xfrm>
            <a:off x="6675120" y="3291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223760" y="3291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Deduplication: IoU &gt; 0.5 + frame proximity &lt; 30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675120" y="3886200"/>
            <a:ext cx="320040" cy="320040"/>
          </a:xfrm>
          <a:prstGeom prst="ellipse">
            <a:avLst/>
          </a:prstGeom>
          <a:solidFill>
            <a:srgbClr val="E8553D"/>
          </a:solidFill>
          <a:ln/>
        </p:spPr>
      </p:sp>
      <p:sp>
        <p:nvSpPr>
          <p:cNvPr id="38" name="Text 36"/>
          <p:cNvSpPr/>
          <p:nvPr/>
        </p:nvSpPr>
        <p:spPr>
          <a:xfrm>
            <a:off x="6675120" y="3886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223760" y="3886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cars by spatial proximity (NOT track ID across passes)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675120" y="4480560"/>
            <a:ext cx="320040" cy="320040"/>
          </a:xfrm>
          <a:prstGeom prst="ellipse">
            <a:avLst/>
          </a:prstGeom>
          <a:solidFill>
            <a:srgbClr val="E8553D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4480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223760" y="4480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plate crops for each unique car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675120" y="5074920"/>
            <a:ext cx="320040" cy="320040"/>
          </a:xfrm>
          <a:prstGeom prst="ellipse">
            <a:avLst/>
          </a:prstGeom>
          <a:solidFill>
            <a:srgbClr val="E8553D"/>
          </a:solidFill>
          <a:ln/>
        </p:spPr>
      </p:sp>
      <p:sp>
        <p:nvSpPr>
          <p:cNvPr id="44" name="Text 42"/>
          <p:cNvSpPr/>
          <p:nvPr/>
        </p:nvSpPr>
        <p:spPr>
          <a:xfrm>
            <a:off x="6675120" y="5074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223760" y="5074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plate candidates by crop area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53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8553D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92608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Training Infrastructure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92608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T4 GPU — Training at scale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926080" y="2834640"/>
            <a:ext cx="2286000" cy="36576"/>
          </a:xfrm>
          <a:prstGeom prst="rect">
            <a:avLst/>
          </a:prstGeom>
          <a:solidFill>
            <a:srgbClr val="E8553D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— Real-Time Vehicle Analysis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Training Infrastructure &amp; Config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530352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Platform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Notebooks (free T4 GPU)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05840" y="2468880"/>
            <a:ext cx="4480560" cy="9144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69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269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Tesla T4 (16GB VRAM)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05840" y="3063240"/>
            <a:ext cx="4480560" cy="9144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291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V2 batch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3291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(batch=32 OOMs for YOLOv11m)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05840" y="3657600"/>
            <a:ext cx="4480560" cy="9144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886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Seatbelt batch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0" y="3886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(fits for YOLOv11m at 640)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05840" y="4251960"/>
            <a:ext cx="4480560" cy="9144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480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V2 Time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91840" y="4480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 min/epoch × 80 = ~9 hours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05840" y="4846320"/>
            <a:ext cx="4480560" cy="9144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5074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Seatbelt Time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91840" y="5074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min/epoch × 78 = ~5 hours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09360" y="1371600"/>
            <a:ext cx="521208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67512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675120" y="2103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 Matters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675120" y="2377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YOLOv11m batch=32 OOMs on T4 — use batch=16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75120" y="2788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675120" y="3063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BCE loss didn't improve results — normal training with more epochs was better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75120" y="3474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675120" y="3749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RandAugment + MixUp(0.1) gave best results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675120" y="4160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Warmup Removal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675120" y="4434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3 epochs are warmup — exclude from analysis charts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Size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675120" y="5120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match training imgsz=640 or predictions break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675120" y="5532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Roboflow Labels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675120" y="5806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exports have polygon data (&gt;5 values/line) — truncate to first 5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53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8553D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92608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92608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Interface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926080" y="2834640"/>
            <a:ext cx="2286000" cy="36576"/>
          </a:xfrm>
          <a:prstGeom prst="rect">
            <a:avLst/>
          </a:prstGeom>
          <a:solidFill>
            <a:srgbClr val="E8553D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— Real-Time Vehicle Analysis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Streamlit Web Interface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28016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417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14173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Sidebar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18288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confidence sliders for all models (step=0.01). Model status indicators. Cache-min detection for instant filtering.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28016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1417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📷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949440" y="14173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Mode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18288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PNG images → detect cars as clickable cards → interior analysis (seatbelt/mobile) → plate OCR with enhancement comparison.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01752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31546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🚗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80160" y="31546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Clickable Car Grid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35661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vehicles shown as image cards with green/red plate badge. Click to analyze. Filtered by confidence slider in real-time.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301752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92240" y="31546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🔤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49440" y="31546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9-Way OCR Comparison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92240" y="35661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OCR models × 3 enhancement levels = 9 results per plate. Annotated images with per-class colored boxes and Franco labels.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75488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22960" y="4892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🖼️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280160" y="48920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Gallery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2960" y="530352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sample images gallery with compact expandable grid. Click any thumbnail to process.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475488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92240" y="4892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🏷️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949440" y="48920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 Badges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92240" y="530352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Colored Streamlit badges: red 'No Belt', green 'Belt', red 'Phone'. Instant visual feedback for safety violations.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53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Results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2743200" cy="36576"/>
          </a:xfrm>
          <a:prstGeom prst="rect">
            <a:avLst/>
          </a:prstGeom>
          <a:solidFill>
            <a:srgbClr val="E8553D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64592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1E2761"/>
          </a:solidFill>
          <a:ln w="25400">
            <a:solidFill>
              <a:srgbClr val="E855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288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55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99.0%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V2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4840" y="164592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1E2761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18288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E86A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87.3%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434840" y="28346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Seatbelt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0" y="164592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1E2761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8288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8A7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99.2%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229600" y="28346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V2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mAP@50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1E2761"/>
          </a:solidFill>
          <a:ln w="25400">
            <a:solidFill>
              <a:srgbClr val="F0A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2976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0A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90.0%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40080" y="53035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Seatbelt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mAP@50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434840" y="411480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1E2761"/>
          </a:solidFill>
          <a:ln w="25400">
            <a:solidFill>
              <a:srgbClr val="6C6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34840" y="42976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C6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4434840" y="53035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Results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Plate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29600" y="411480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0" y="42976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&lt;1s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8229600" y="53035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Image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— Real-Time Vehicle Analysis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Challenges We Faced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28016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417320"/>
            <a:ext cx="54864" cy="1188720"/>
          </a:xfrm>
          <a:prstGeom prst="rect">
            <a:avLst/>
          </a:prstGeom>
          <a:solidFill>
            <a:srgbClr val="E8553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4173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Tracking Unreliability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17830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 assigns fresh track IDs on each video pass. Cross-pass car matching requires spatial proximity (IoU), not track IDs. Video mode was removed pending a better approach.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28016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09360" y="1417320"/>
            <a:ext cx="54864" cy="11887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4173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in OCR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83680" y="17830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Arabic characters appear far more frequently than others. Attempted weighted BCE loss — but normal training with more epochs performed better.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01752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154680"/>
            <a:ext cx="54864" cy="1188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1546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LapSRN Instability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352044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Super-resolution model crashes on certain image shapes (cv2.error in merge). Required try/except fallback to original image.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301752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3154680"/>
            <a:ext cx="54864" cy="1188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31546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Memory Constraints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83680" y="352044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T4 has 16GB VRAM. YOLOv11m batch=32 OOMs — had to use batch=16. This doubles training time.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75488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4892040"/>
            <a:ext cx="54864" cy="1188720"/>
          </a:xfrm>
          <a:prstGeom prst="rect">
            <a:avLst/>
          </a:prstGeom>
          <a:solidFill>
            <a:srgbClr val="8B95A5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8920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Roboflow Label Format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4400" y="525780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Roboflow YOLO exports include polygon data (&gt;5 values per line). Had to truncate to standard format (class x y w h).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475488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09360" y="4892040"/>
            <a:ext cx="54864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0" y="48920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Text Rendering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583680" y="525780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text (numbers LTR, Arabic RTL) requires careful handling. Used separate_chars() to split and reverse correctly.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— Real-Time Vehicle Analysis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Next?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28016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371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1371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Mode Revival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46320" y="1417320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E8553D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41732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182880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video processing with better tracking approach. Current plate-first method was too slow.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128016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1371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949440" y="1371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Mode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515600" y="1417320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E8553D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0" y="141732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92240" y="182880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select best plate crop using sharpness scoring, not just area ranking.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01752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" y="3108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280160" y="3108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Classification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846320" y="3154680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F0A500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315468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" y="356616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for vehicle color detection. Config ready (COLOR_KMEANS_CLUSTERS), implementation pending.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09360" y="301752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92240" y="3108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949440" y="3108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Estimation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515600" y="3154680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F0A500"/>
          </a:solidFill>
          <a:ln/>
        </p:spPr>
      </p:sp>
      <p:sp>
        <p:nvSpPr>
          <p:cNvPr id="29" name="Text 27"/>
          <p:cNvSpPr/>
          <p:nvPr/>
        </p:nvSpPr>
        <p:spPr>
          <a:xfrm>
            <a:off x="10515600" y="315468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92240" y="356616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car tracking between frames to estimate vehicle speed from video feeds.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" y="475488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22960" y="4846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280160" y="4846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Deduplication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846320" y="4892040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F0A500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48920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2960" y="530352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IoU-based dedup works, but visual similarity (feature matching) would be more robust.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309360" y="475488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492240" y="4846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949440" y="4846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Optimization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0515600" y="4892040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28A745"/>
          </a:solidFill>
          <a:ln/>
        </p:spPr>
      </p:sp>
      <p:sp>
        <p:nvSpPr>
          <p:cNvPr id="41" name="Text 39"/>
          <p:cNvSpPr/>
          <p:nvPr/>
        </p:nvSpPr>
        <p:spPr>
          <a:xfrm>
            <a:off x="10515600" y="48920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492240" y="530352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and TensorRT for faster inference. Deploy on edge devices (Jetson, Coral).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53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8553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914400" y="2834640"/>
            <a:ext cx="2743200" cy="36576"/>
          </a:xfrm>
          <a:prstGeom prst="rect">
            <a:avLst/>
          </a:prstGeom>
          <a:solidFill>
            <a:srgbClr val="E8553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— Real-Time Vehicle Analysis System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Egyptian License Plate Detection  ·  OCR  ·  Seatbelt &amp; Mobile Detection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548640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5486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YOLOv11m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548640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5486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YOLO26m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7680" y="548640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5486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YOLO26s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89320" y="548640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5486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680960" y="548640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0" y="5486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LapSRN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372600" y="548640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72600" y="5486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Real-ESRGAN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RADAR - Real-Time Vehicle Analysis System</dc:title>
  <dc:subject>PptxGenJS Presentation</dc:subject>
  <dc:creator>RADAR Team</dc:creator>
  <cp:lastModifiedBy>RADAR Team</cp:lastModifiedBy>
  <cp:revision>1</cp:revision>
  <dcterms:created xsi:type="dcterms:W3CDTF">2026-05-16T20:35:53Z</dcterms:created>
  <dcterms:modified xsi:type="dcterms:W3CDTF">2026-05-16T20:35:53Z</dcterms:modified>
</cp:coreProperties>
</file>